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18"/>
  </p:notesMasterIdLst>
  <p:sldIdLst>
    <p:sldId id="371" r:id="rId3"/>
    <p:sldId id="257" r:id="rId4"/>
    <p:sldId id="266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2"/>
    <p:restoredTop sz="94729"/>
  </p:normalViewPr>
  <p:slideViewPr>
    <p:cSldViewPr snapToGrid="0" snapToObjects="1">
      <p:cViewPr varScale="1">
        <p:scale>
          <a:sx n="68" d="100"/>
          <a:sy n="68" d="100"/>
        </p:scale>
        <p:origin x="14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Stany Rozario" userId="dbb37ec6-3e12-44d7-b04d-09b867830cae" providerId="ADAL" clId="{E2A6816C-93C4-4F2B-AE41-6933EEFCD085}"/>
    <pc:docChg chg="modSld">
      <pc:chgData name="Victor Stany Rozario" userId="dbb37ec6-3e12-44d7-b04d-09b867830cae" providerId="ADAL" clId="{E2A6816C-93C4-4F2B-AE41-6933EEFCD085}" dt="2020-07-28T01:54:58.501" v="7" actId="20577"/>
      <pc:docMkLst>
        <pc:docMk/>
      </pc:docMkLst>
      <pc:sldChg chg="modSp mod">
        <pc:chgData name="Victor Stany Rozario" userId="dbb37ec6-3e12-44d7-b04d-09b867830cae" providerId="ADAL" clId="{E2A6816C-93C4-4F2B-AE41-6933EEFCD085}" dt="2020-07-28T01:54:58.501" v="7" actId="20577"/>
        <pc:sldMkLst>
          <pc:docMk/>
          <pc:sldMk cId="4036715045" sldId="371"/>
        </pc:sldMkLst>
        <pc:spChg chg="mod">
          <ac:chgData name="Victor Stany Rozario" userId="dbb37ec6-3e12-44d7-b04d-09b867830cae" providerId="ADAL" clId="{E2A6816C-93C4-4F2B-AE41-6933EEFCD085}" dt="2020-07-28T01:54:58.501" v="7" actId="20577"/>
          <ac:spMkLst>
            <pc:docMk/>
            <pc:sldMk cId="4036715045" sldId="37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E9F8E-387F-7741-B173-CE0E7E491B3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EFA3F-6CDE-0A49-9092-00020FAEB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2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9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86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93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08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4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31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46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50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73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07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837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2179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3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4569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776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67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402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0172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81899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073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54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26621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31497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697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4779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07/28/2020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1259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52255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8748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149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796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2019-2020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974769" y="1519623"/>
            <a:ext cx="4672940" cy="48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2</a:t>
            </a:r>
          </a:p>
        </p:txBody>
      </p:sp>
    </p:spTree>
    <p:extLst>
      <p:ext uri="{BB962C8B-B14F-4D97-AF65-F5344CB8AC3E}">
        <p14:creationId xmlns:p14="http://schemas.microsoft.com/office/powerpoint/2010/main" val="403671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sz="2800" dirty="0">
              <a:solidFill>
                <a:schemeClr val="tx1"/>
              </a:solidFill>
            </a:endParaRP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Polymorphism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Method Overriding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800">
                <a:solidFill>
                  <a:schemeClr val="tx1"/>
                </a:solidFill>
              </a:rPr>
              <a:t>Method </a:t>
            </a:r>
            <a:r>
              <a:rPr lang="en-US" sz="2800" dirty="0">
                <a:solidFill>
                  <a:schemeClr val="tx1"/>
                </a:solidFill>
              </a:rPr>
              <a:t>Overloading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A71F4A-1FF2-2D40-B3CB-F41939CDCAEA}"/>
              </a:ext>
            </a:extLst>
          </p:cNvPr>
          <p:cNvSpPr txBox="1"/>
          <p:nvPr/>
        </p:nvSpPr>
        <p:spPr>
          <a:xfrm>
            <a:off x="304801" y="2182368"/>
            <a:ext cx="83880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Polymorphism originates from the </a:t>
            </a:r>
            <a:r>
              <a:rPr lang="en-GB" dirty="0" err="1"/>
              <a:t>greek</a:t>
            </a:r>
            <a:r>
              <a:rPr lang="en-GB" dirty="0"/>
              <a:t> word </a:t>
            </a:r>
            <a:r>
              <a:rPr lang="en-GB" i="1" dirty="0"/>
              <a:t>“polys” </a:t>
            </a:r>
            <a:r>
              <a:rPr lang="en-GB" dirty="0"/>
              <a:t>which means many, and </a:t>
            </a:r>
            <a:r>
              <a:rPr lang="en-GB" i="1" dirty="0"/>
              <a:t>“</a:t>
            </a:r>
            <a:r>
              <a:rPr lang="en-GB" i="1" dirty="0" err="1"/>
              <a:t>morphe</a:t>
            </a:r>
            <a:r>
              <a:rPr lang="en-GB" i="1" dirty="0"/>
              <a:t>” </a:t>
            </a:r>
            <a:r>
              <a:rPr lang="en-GB" dirty="0"/>
              <a:t>which means forms, or shapes. </a:t>
            </a:r>
          </a:p>
          <a:p>
            <a:endParaRPr lang="en-GB" dirty="0"/>
          </a:p>
          <a:p>
            <a:r>
              <a:rPr lang="en-GB" dirty="0"/>
              <a:t>Polymorphism is possible when classes share a common interface. For example, a Cat class and a Dog class may share a common interface through inheriting the Animal class.</a:t>
            </a:r>
          </a:p>
          <a:p>
            <a:endParaRPr lang="en-GB" dirty="0"/>
          </a:p>
          <a:p>
            <a:r>
              <a:rPr lang="en-GB" dirty="0"/>
              <a:t>To understand Polymorphism, we must take a look at how we instantiate objects. </a:t>
            </a:r>
          </a:p>
          <a:p>
            <a:pPr algn="ctr"/>
            <a:endParaRPr lang="en-GB" dirty="0">
              <a:solidFill>
                <a:srgbClr val="800000"/>
              </a:solidFill>
              <a:latin typeface="Courier New"/>
              <a:cs typeface="Courier New"/>
            </a:endParaRPr>
          </a:p>
          <a:p>
            <a:pPr algn="ctr"/>
            <a:r>
              <a:rPr lang="en-GB" dirty="0">
                <a:solidFill>
                  <a:srgbClr val="800000"/>
                </a:solidFill>
                <a:latin typeface="Courier New"/>
                <a:cs typeface="Courier New"/>
              </a:rPr>
              <a:t>Cat</a:t>
            </a:r>
            <a:r>
              <a:rPr lang="en-GB" dirty="0">
                <a:latin typeface="Courier New"/>
                <a:cs typeface="Courier New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 New"/>
                <a:cs typeface="Courier New"/>
              </a:rPr>
              <a:t>myCat</a:t>
            </a:r>
            <a:r>
              <a:rPr lang="en-GB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GB" dirty="0">
                <a:latin typeface="Courier New"/>
                <a:cs typeface="Courier New"/>
              </a:rPr>
              <a:t>= </a:t>
            </a:r>
            <a:r>
              <a:rPr lang="en-GB" dirty="0">
                <a:solidFill>
                  <a:srgbClr val="000090"/>
                </a:solidFill>
                <a:latin typeface="Courier New"/>
                <a:cs typeface="Courier New"/>
              </a:rPr>
              <a:t>new Cat()</a:t>
            </a:r>
            <a:r>
              <a:rPr lang="en-GB" dirty="0">
                <a:latin typeface="Courier New"/>
                <a:cs typeface="Courier New"/>
              </a:rPr>
              <a:t>;</a:t>
            </a:r>
            <a:br>
              <a:rPr lang="en-GB" dirty="0">
                <a:latin typeface="Courier New"/>
                <a:cs typeface="Courier New"/>
              </a:rPr>
            </a:br>
            <a:endParaRPr lang="en-GB" dirty="0">
              <a:latin typeface="Courier New"/>
              <a:cs typeface="Courier New"/>
            </a:endParaRPr>
          </a:p>
          <a:p>
            <a:r>
              <a:rPr lang="en-GB" dirty="0"/>
              <a:t>Here we declare the </a:t>
            </a:r>
            <a:r>
              <a:rPr lang="en-GB" dirty="0">
                <a:solidFill>
                  <a:srgbClr val="800000"/>
                </a:solidFill>
              </a:rPr>
              <a:t>reference type </a:t>
            </a:r>
            <a:r>
              <a:rPr lang="en-GB" dirty="0"/>
              <a:t>Cat, the </a:t>
            </a:r>
            <a:r>
              <a:rPr lang="en-GB" dirty="0">
                <a:solidFill>
                  <a:srgbClr val="008000"/>
                </a:solidFill>
              </a:rPr>
              <a:t>variable name </a:t>
            </a:r>
            <a:r>
              <a:rPr lang="en-GB" dirty="0" err="1">
                <a:solidFill>
                  <a:srgbClr val="008000"/>
                </a:solidFill>
              </a:rPr>
              <a:t>myCat</a:t>
            </a:r>
            <a:r>
              <a:rPr lang="en-GB" dirty="0"/>
              <a:t> and instantiate a new Cat object by calling </a:t>
            </a:r>
            <a:r>
              <a:rPr lang="en-GB" dirty="0">
                <a:solidFill>
                  <a:srgbClr val="000090"/>
                </a:solidFill>
              </a:rPr>
              <a:t>new Cat();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3B0AEAB-2214-AE4F-A1F2-28FE518A2299}"/>
              </a:ext>
            </a:extLst>
          </p:cNvPr>
          <p:cNvSpPr/>
          <p:nvPr/>
        </p:nvSpPr>
        <p:spPr>
          <a:xfrm>
            <a:off x="675051" y="2101394"/>
            <a:ext cx="7613904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When classes share a common interface, we can redefine the reference type of the objects we are creating. So our </a:t>
            </a:r>
            <a:r>
              <a:rPr lang="en-GB" dirty="0" err="1"/>
              <a:t>myCat</a:t>
            </a:r>
            <a:r>
              <a:rPr lang="en-GB" dirty="0"/>
              <a:t> definition can be changed to:</a:t>
            </a:r>
          </a:p>
          <a:p>
            <a:pPr algn="ctr"/>
            <a:endParaRPr lang="en-GB" dirty="0">
              <a:solidFill>
                <a:srgbClr val="800000"/>
              </a:solidFill>
              <a:latin typeface="Courier New"/>
              <a:cs typeface="Courier New"/>
            </a:endParaRPr>
          </a:p>
          <a:p>
            <a:pPr algn="ctr"/>
            <a:r>
              <a:rPr lang="en-GB" dirty="0">
                <a:solidFill>
                  <a:srgbClr val="800000"/>
                </a:solidFill>
                <a:latin typeface="Courier New"/>
                <a:cs typeface="Courier New"/>
              </a:rPr>
              <a:t>Animal </a:t>
            </a:r>
            <a:r>
              <a:rPr lang="en-GB" dirty="0" err="1">
                <a:solidFill>
                  <a:srgbClr val="008000"/>
                </a:solidFill>
                <a:latin typeface="Courier New"/>
                <a:cs typeface="Courier New"/>
              </a:rPr>
              <a:t>myCat</a:t>
            </a:r>
            <a:r>
              <a:rPr lang="en-GB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GB" dirty="0">
                <a:latin typeface="Courier New"/>
                <a:cs typeface="Courier New"/>
              </a:rPr>
              <a:t>= </a:t>
            </a:r>
            <a:r>
              <a:rPr lang="en-GB" dirty="0">
                <a:solidFill>
                  <a:srgbClr val="000090"/>
                </a:solidFill>
                <a:latin typeface="Courier New"/>
                <a:cs typeface="Courier New"/>
              </a:rPr>
              <a:t>new Cat()</a:t>
            </a:r>
            <a:r>
              <a:rPr lang="en-GB" dirty="0">
                <a:latin typeface="Courier New"/>
                <a:cs typeface="Courier New"/>
              </a:rPr>
              <a:t>;</a:t>
            </a:r>
          </a:p>
          <a:p>
            <a:r>
              <a:rPr lang="en-GB" dirty="0"/>
              <a:t>For example, we can now create an Array of Animals that can contains Dog objects, Cat objects and any other subclass of Animal.</a:t>
            </a:r>
          </a:p>
          <a:p>
            <a:pPr algn="ctr"/>
            <a:endParaRPr lang="en-GB" sz="1400" dirty="0">
              <a:latin typeface="Courier New"/>
              <a:cs typeface="Courier New"/>
            </a:endParaRPr>
          </a:p>
          <a:p>
            <a:pPr algn="ctr"/>
            <a:r>
              <a:rPr lang="en-GB" sz="1400" dirty="0">
                <a:latin typeface="Courier New"/>
                <a:cs typeface="Courier New"/>
              </a:rPr>
              <a:t>Animal[] animals = new Animal[2];</a:t>
            </a:r>
          </a:p>
          <a:p>
            <a:pPr algn="ctr"/>
            <a:r>
              <a:rPr lang="en-GB" sz="1400" dirty="0">
                <a:latin typeface="Courier New"/>
                <a:cs typeface="Courier New"/>
              </a:rPr>
              <a:t>animals[0] = new Cat();</a:t>
            </a:r>
          </a:p>
          <a:p>
            <a:pPr algn="ctr"/>
            <a:r>
              <a:rPr lang="en-GB" sz="1400" dirty="0">
                <a:latin typeface="Courier New"/>
                <a:cs typeface="Courier New"/>
              </a:rPr>
              <a:t>animals[1] = new Dog();</a:t>
            </a:r>
          </a:p>
          <a:p>
            <a:pPr algn="ctr"/>
            <a:endParaRPr lang="en-GB" sz="1400" dirty="0">
              <a:latin typeface="Courier New"/>
              <a:cs typeface="Courier New"/>
            </a:endParaRPr>
          </a:p>
          <a:p>
            <a:r>
              <a:rPr lang="en-GB" dirty="0"/>
              <a:t>Polymorphism is a very powerful concept that improves code extensibility and modularity.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094A2-D098-F546-9268-AB5921AA1255}"/>
              </a:ext>
            </a:extLst>
          </p:cNvPr>
          <p:cNvSpPr txBox="1"/>
          <p:nvPr/>
        </p:nvSpPr>
        <p:spPr>
          <a:xfrm>
            <a:off x="390144" y="926592"/>
            <a:ext cx="1983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3480120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1BBEC-EE70-BA4D-9D0B-60DAEB5B6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800"/>
            <a:ext cx="9144000" cy="6553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035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1BC26-BC0E-9E47-8D72-C9421E461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2608"/>
            <a:ext cx="9144000" cy="656539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3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4C1C71-2FFF-264F-B0DF-55FB4D528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1376"/>
            <a:ext cx="9144000" cy="65166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606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4309B2-D323-6A48-9875-7D2A9F775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4528"/>
            <a:ext cx="9144000" cy="644347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006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8B54D4D-6270-8642-BCF8-C7BD6D35CF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50" y="678176"/>
            <a:ext cx="8639299" cy="61798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0178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BFA9BC1A-B730-FF45-A69D-5E565C1A314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65" y="643578"/>
            <a:ext cx="8102189" cy="61268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47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6613256-7146-2145-AA6C-475109E1249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161"/>
            <a:ext cx="9144000" cy="55093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030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5" y="512220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F2144C-E0D0-A14C-B8E7-FA929278B0D0}"/>
              </a:ext>
            </a:extLst>
          </p:cNvPr>
          <p:cNvSpPr txBox="1"/>
          <p:nvPr/>
        </p:nvSpPr>
        <p:spPr>
          <a:xfrm>
            <a:off x="390144" y="926592"/>
            <a:ext cx="2148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Sealed keyword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49AC0A-5398-C948-AF95-88F77487DDE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1966405"/>
            <a:ext cx="7974453" cy="364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6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9709" y="1167441"/>
            <a:ext cx="72597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50" y="2865888"/>
            <a:ext cx="2806843" cy="30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95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2433394"/>
            <a:ext cx="83174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C# 4.0 The Complete Reference; Herbert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Schildt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McGraw-Hill Osborne Media; 2010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First C# by Andrew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Stellman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Fundamentals of Computer Programming with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CSharp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Nakov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v2013</a:t>
            </a:r>
          </a:p>
        </p:txBody>
      </p:sp>
    </p:spTree>
    <p:extLst>
      <p:ext uri="{BB962C8B-B14F-4D97-AF65-F5344CB8AC3E}">
        <p14:creationId xmlns:p14="http://schemas.microsoft.com/office/powerpoint/2010/main" val="504309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172113-BBE1-7942-B4F6-0F473B858C72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AEC62B-5FE6-9D44-88B1-D1C5C6E5AA80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AA4209-B3FD-A24D-B2D1-91BFC6A18092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C4BF353-FB71-A14E-B437-98E6676365D5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631FC8D-FCE4-4F40-950D-1F3A0C441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3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6367B8-4E0E-E04A-B65A-2D40CED7A84D}"/>
              </a:ext>
            </a:extLst>
          </p:cNvPr>
          <p:cNvSpPr txBox="1"/>
          <p:nvPr/>
        </p:nvSpPr>
        <p:spPr>
          <a:xfrm>
            <a:off x="284165" y="2669912"/>
            <a:ext cx="6318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C# 4.0 The Complete Reference; Herbert </a:t>
            </a:r>
            <a:r>
              <a:rPr lang="en-US" sz="1400" dirty="0" err="1"/>
              <a:t>Schildt</a:t>
            </a:r>
            <a:r>
              <a:rPr lang="en-US" sz="1400" dirty="0"/>
              <a:t>; McGraw-Hill Osborne Media; 2010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CF74E-BD1F-5E42-83FC-5C30BC279761}"/>
              </a:ext>
            </a:extLst>
          </p:cNvPr>
          <p:cNvSpPr txBox="1"/>
          <p:nvPr/>
        </p:nvSpPr>
        <p:spPr>
          <a:xfrm>
            <a:off x="284165" y="1654250"/>
            <a:ext cx="85133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MSDN Library; URL: http://</a:t>
            </a:r>
            <a:r>
              <a:rPr lang="en-US" sz="1400" dirty="0" err="1"/>
              <a:t>msdn.microsoft.com</a:t>
            </a:r>
            <a:r>
              <a:rPr lang="en-US" sz="1400" dirty="0"/>
              <a:t>/library </a:t>
            </a:r>
          </a:p>
          <a:p>
            <a:endParaRPr lang="en-US" sz="1400" dirty="0"/>
          </a:p>
          <a:p>
            <a:r>
              <a:rPr lang="en-US" sz="1400" dirty="0"/>
              <a:t>C# Language Specification; URL: http://</a:t>
            </a:r>
            <a:r>
              <a:rPr lang="en-US" sz="1400" dirty="0" err="1"/>
              <a:t>download.microsoft.com</a:t>
            </a:r>
            <a:r>
              <a:rPr lang="en-US" sz="1400" dirty="0"/>
              <a:t>/download/0/B/D/0BDA894F- </a:t>
            </a:r>
          </a:p>
          <a:p>
            <a:r>
              <a:rPr lang="en-US" sz="1400" dirty="0"/>
              <a:t>2CCD-4C2C-B5A7-4EB1171962E5/CSharp%20Language%20Specixfication.doc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7747847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DFC602E1B958418E59E396BA607039" ma:contentTypeVersion="0" ma:contentTypeDescription="Create a new document." ma:contentTypeScope="" ma:versionID="12d6e0ef4c2c162e03ab80fafd24799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B08C3E0-0D6B-425E-85D7-F0D238CE86D5}"/>
</file>

<file path=customXml/itemProps2.xml><?xml version="1.0" encoding="utf-8"?>
<ds:datastoreItem xmlns:ds="http://schemas.openxmlformats.org/officeDocument/2006/customXml" ds:itemID="{714DF3C8-F640-4ACE-86D2-0E2D644AE95A}"/>
</file>

<file path=customXml/itemProps3.xml><?xml version="1.0" encoding="utf-8"?>
<ds:datastoreItem xmlns:ds="http://schemas.openxmlformats.org/officeDocument/2006/customXml" ds:itemID="{1C5B1A9B-8835-432D-98B8-68C9F4EBC15A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121</TotalTime>
  <Words>352</Words>
  <Application>Microsoft Office PowerPoint</Application>
  <PresentationFormat>On-screen Show (4:3)</PresentationFormat>
  <Paragraphs>58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Corbel</vt:lpstr>
      <vt:lpstr>Courier New</vt:lpstr>
      <vt:lpstr>Monotype Corsiva</vt:lpstr>
      <vt:lpstr>Wingdings</vt:lpstr>
      <vt:lpstr>Spectrum</vt:lpstr>
      <vt:lpstr>1_Spectrum</vt:lpstr>
      <vt:lpstr>Polymorphism</vt:lpstr>
      <vt:lpstr>Topics</vt:lpstr>
      <vt:lpstr>Polymorphism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Victor Stany Rozario</cp:lastModifiedBy>
  <cp:revision>20</cp:revision>
  <dcterms:created xsi:type="dcterms:W3CDTF">2018-12-10T17:20:29Z</dcterms:created>
  <dcterms:modified xsi:type="dcterms:W3CDTF">2020-07-28T01:55:26Z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0x01010037DFC602E1B958418E59E396BA607039</vt:lpwstr>
  </property>
</Properties>
</file>